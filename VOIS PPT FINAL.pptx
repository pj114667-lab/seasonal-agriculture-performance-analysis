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71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6AAF3-6505-469E-B29B-55D8E99E9718}" v="1" dt="2026-09-10T11:08:34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JOSHI" userId="4d4d48c7209ee93b" providerId="LiveId" clId="{0CCE2026-3290-4E11-AACC-FEC6A715D5E3}"/>
    <pc:docChg chg="modSld">
      <pc:chgData name="PRATIK JOSHI" userId="4d4d48c7209ee93b" providerId="LiveId" clId="{0CCE2026-3290-4E11-AACC-FEC6A715D5E3}" dt="2026-09-10T11:08:41.780" v="8" actId="20577"/>
      <pc:docMkLst>
        <pc:docMk/>
      </pc:docMkLst>
      <pc:sldChg chg="modSp mod">
        <pc:chgData name="PRATIK JOSHI" userId="4d4d48c7209ee93b" providerId="LiveId" clId="{0CCE2026-3290-4E11-AACC-FEC6A715D5E3}" dt="2026-09-10T11:08:41.780" v="8" actId="20577"/>
        <pc:sldMkLst>
          <pc:docMk/>
          <pc:sldMk cId="0" sldId="269"/>
        </pc:sldMkLst>
        <pc:spChg chg="mod">
          <ac:chgData name="PRATIK JOSHI" userId="4d4d48c7209ee93b" providerId="LiveId" clId="{0CCE2026-3290-4E11-AACC-FEC6A715D5E3}" dt="2026-09-10T11:08:41.780" v="8" actId="20577"/>
          <ac:spMkLst>
            <pc:docMk/>
            <pc:sldMk cId="0" sldId="269"/>
            <ac:spMk id="5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move the slide</a:t>
            </a:r>
          </a:p>
        </p:txBody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451" name="PlaceHolder 4"/>
          <p:cNvSpPr>
            <a:spLocks noGrp="1"/>
          </p:cNvSpPr>
          <p:nvPr>
            <p:ph type="dt" idx="5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52" name="PlaceHolder 5"/>
          <p:cNvSpPr>
            <a:spLocks noGrp="1"/>
          </p:cNvSpPr>
          <p:nvPr>
            <p:ph type="ftr" idx="5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3" name="PlaceHolder 6"/>
          <p:cNvSpPr>
            <a:spLocks noGrp="1"/>
          </p:cNvSpPr>
          <p:nvPr>
            <p:ph type="sldNum" idx="5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57772FA-32F0-4C1B-B966-32097D55304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9DE2F8-AF81-43AC-8349-D13E3AC1FC4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AF75C0-E76C-4AB9-85E7-3686BE38E1D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EF7FC522-BD0F-47A8-AEF6-A9C2DE5DD510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6F742CB0-6033-4621-AC25-0E7CD992A072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F75680-646B-499F-842F-2AF4F4FD8A60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5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5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CF4F79B3-5FB7-450A-81EE-84DA77221B31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4A7148B9-F45F-4DE0-A875-B29EF39E0327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67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9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5B6EDE-0885-4645-B253-694658B1E040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7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7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4EBCF4A8-6AD3-492A-866B-29B56ACFE947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946AEC32-1DB5-47CD-AB30-2272A9E70F69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88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0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2C3253-6B7E-4C8D-8632-E7478C8B859B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Name 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9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9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9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B718B9D5-17D8-4A6D-93FB-1520AB35446A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56FD1DBC-31B5-4E85-9685-219938A6026B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0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3B8FCA-5E4F-4040-BA54-4329727A0E1A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ue or Fal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1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1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1922E742-53C0-449F-BDB6-A1CE9AA5217D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34288E33-0E38-406F-9FDC-C168B44F3B23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2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9E64A4-81FA-4AA8-B4A6-3EFFFAEEBA30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3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3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BD05A7C9-1AAF-438C-9540-34ACBD31111E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736980BA-137B-42C0-9D3E-297A564BD6FD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149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1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CB8B11-554D-4FBA-99C3-9058349FD53E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5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5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5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CA022FD4-F050-40EC-9CCD-DE5A7DA3A398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413FE43E-157B-4526-AA57-A5A26EF847F1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168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70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7C14B2-7F4B-422C-88BF-D8CE8DDD854B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trodu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9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9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9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902A6365-B199-40DB-AE50-DC1E922FEADE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7534C046-F6BF-4B71-AAE7-309C03F731ED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Oval 9"/>
          <p:cNvSpPr/>
          <p:nvPr/>
        </p:nvSpPr>
        <p:spPr>
          <a:xfrm>
            <a:off x="7362720" y="443160"/>
            <a:ext cx="361440" cy="3614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accent5"/>
              </a:solidFill>
              <a:effectLst/>
              <a:uFillTx/>
              <a:latin typeface="Trebuchet MS"/>
            </a:endParaRPr>
          </a:p>
        </p:txBody>
      </p:sp>
      <p:sp>
        <p:nvSpPr>
          <p:cNvPr id="207" name="Oval 13"/>
          <p:cNvSpPr/>
          <p:nvPr/>
        </p:nvSpPr>
        <p:spPr>
          <a:xfrm>
            <a:off x="11007360" y="5605920"/>
            <a:ext cx="653760" cy="653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accent5"/>
              </a:solidFill>
              <a:effectLst/>
              <a:uFillTx/>
              <a:latin typeface="Trebuchet MS"/>
            </a:endParaRPr>
          </a:p>
        </p:txBody>
      </p:sp>
      <p:sp>
        <p:nvSpPr>
          <p:cNvPr id="208" name="Oval 15"/>
          <p:cNvSpPr/>
          <p:nvPr/>
        </p:nvSpPr>
        <p:spPr>
          <a:xfrm>
            <a:off x="10683720" y="6132600"/>
            <a:ext cx="250920" cy="2509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accent5"/>
              </a:solidFill>
              <a:effectLst/>
              <a:uFillTx/>
              <a:latin typeface="Trebuchet MS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body"/>
          </p:nvPr>
        </p:nvSpPr>
        <p:spPr>
          <a:xfrm>
            <a:off x="5733360" y="624240"/>
            <a:ext cx="5855400" cy="5631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60240" y="2044800"/>
            <a:ext cx="4274640" cy="35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50000"/>
              </a:lnSpc>
              <a:spcBef>
                <a:spcPts val="1001"/>
              </a:spcBef>
              <a:buClr>
                <a:srgbClr val="2E946B"/>
              </a:buClr>
              <a:buSzPct val="8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11" name="PlaceHolder 3"/>
          <p:cNvSpPr>
            <a:spLocks noGrp="1"/>
          </p:cNvSpPr>
          <p:nvPr>
            <p:ph type="title"/>
          </p:nvPr>
        </p:nvSpPr>
        <p:spPr>
          <a:xfrm>
            <a:off x="660240" y="805320"/>
            <a:ext cx="4274640" cy="83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1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1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1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58BBECE9-3B5D-46FB-8EA7-C047A64F6D5F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A7979560-1025-4ED0-BB6B-1E662FD8C4CA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body"/>
          </p:nvPr>
        </p:nvSpPr>
        <p:spPr>
          <a:xfrm>
            <a:off x="660240" y="2044800"/>
            <a:ext cx="4274640" cy="35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2E946B"/>
              </a:buClr>
              <a:buSzPct val="80000"/>
              <a:buFont typeface="Wingdings" charset="2"/>
              <a:buChar char="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27" name="Rectangle 18"/>
          <p:cNvSpPr/>
          <p:nvPr/>
        </p:nvSpPr>
        <p:spPr>
          <a:xfrm>
            <a:off x="9354600" y="5364000"/>
            <a:ext cx="456840" cy="4568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28" name="Rectangle 20"/>
          <p:cNvSpPr/>
          <p:nvPr/>
        </p:nvSpPr>
        <p:spPr>
          <a:xfrm>
            <a:off x="6692760" y="1699920"/>
            <a:ext cx="319320" cy="319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Rectangle 22"/>
          <p:cNvSpPr/>
          <p:nvPr/>
        </p:nvSpPr>
        <p:spPr>
          <a:xfrm>
            <a:off x="9354600" y="5897880"/>
            <a:ext cx="179640" cy="179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7090200" y="786240"/>
            <a:ext cx="4440960" cy="539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title"/>
          </p:nvPr>
        </p:nvSpPr>
        <p:spPr>
          <a:xfrm>
            <a:off x="660240" y="805320"/>
            <a:ext cx="4274640" cy="83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3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3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3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DC28B519-1173-481A-A223-F272A1A65A19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7DD75C7F-77D3-4852-B6AD-7652AC18E250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48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0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408E1A-D1F5-47D4-A224-CAC4AA31F6E0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96E8D3F3-EEE6-4282-A795-B883F20A1D78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5ABEC0B-81B0-4AE5-8DB2-088F080055D6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body"/>
          </p:nvPr>
        </p:nvSpPr>
        <p:spPr>
          <a:xfrm>
            <a:off x="5353560" y="2555640"/>
            <a:ext cx="1484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3115800" y="2555640"/>
            <a:ext cx="1484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7602480" y="2555640"/>
            <a:ext cx="1484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body"/>
          </p:nvPr>
        </p:nvSpPr>
        <p:spPr>
          <a:xfrm>
            <a:off x="9839880" y="2555640"/>
            <a:ext cx="1484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title"/>
          </p:nvPr>
        </p:nvSpPr>
        <p:spPr>
          <a:xfrm>
            <a:off x="432000" y="647640"/>
            <a:ext cx="11339640" cy="6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70" name="Hexagon 8"/>
          <p:cNvSpPr/>
          <p:nvPr/>
        </p:nvSpPr>
        <p:spPr>
          <a:xfrm>
            <a:off x="546840" y="3467520"/>
            <a:ext cx="457920" cy="39456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71" name="Hexagon 9"/>
          <p:cNvSpPr/>
          <p:nvPr/>
        </p:nvSpPr>
        <p:spPr>
          <a:xfrm>
            <a:off x="11113200" y="2394720"/>
            <a:ext cx="358200" cy="30852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72" name="Hexagon 10"/>
          <p:cNvSpPr/>
          <p:nvPr/>
        </p:nvSpPr>
        <p:spPr>
          <a:xfrm>
            <a:off x="10882800" y="2202120"/>
            <a:ext cx="230400" cy="19836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273" name="PlaceHolder 6"/>
          <p:cNvSpPr>
            <a:spLocks noGrp="1"/>
          </p:cNvSpPr>
          <p:nvPr>
            <p:ph type="body"/>
          </p:nvPr>
        </p:nvSpPr>
        <p:spPr>
          <a:xfrm>
            <a:off x="546840" y="417276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4" name="PlaceHolder 7"/>
          <p:cNvSpPr>
            <a:spLocks noGrp="1"/>
          </p:cNvSpPr>
          <p:nvPr>
            <p:ph type="body"/>
          </p:nvPr>
        </p:nvSpPr>
        <p:spPr>
          <a:xfrm>
            <a:off x="556560" y="458820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5" name="PlaceHolder 8"/>
          <p:cNvSpPr>
            <a:spLocks noGrp="1"/>
          </p:cNvSpPr>
          <p:nvPr>
            <p:ph type="body"/>
          </p:nvPr>
        </p:nvSpPr>
        <p:spPr>
          <a:xfrm>
            <a:off x="2789640" y="417276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6" name="PlaceHolder 9"/>
          <p:cNvSpPr>
            <a:spLocks noGrp="1"/>
          </p:cNvSpPr>
          <p:nvPr>
            <p:ph type="body"/>
          </p:nvPr>
        </p:nvSpPr>
        <p:spPr>
          <a:xfrm>
            <a:off x="2789640" y="458820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7" name="PlaceHolder 10"/>
          <p:cNvSpPr>
            <a:spLocks noGrp="1"/>
          </p:cNvSpPr>
          <p:nvPr>
            <p:ph type="body"/>
          </p:nvPr>
        </p:nvSpPr>
        <p:spPr>
          <a:xfrm>
            <a:off x="5032440" y="417276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8" name="PlaceHolder 11"/>
          <p:cNvSpPr>
            <a:spLocks noGrp="1"/>
          </p:cNvSpPr>
          <p:nvPr>
            <p:ph type="body"/>
          </p:nvPr>
        </p:nvSpPr>
        <p:spPr>
          <a:xfrm>
            <a:off x="5029200" y="458820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79" name="PlaceHolder 12"/>
          <p:cNvSpPr>
            <a:spLocks noGrp="1"/>
          </p:cNvSpPr>
          <p:nvPr>
            <p:ph type="body"/>
          </p:nvPr>
        </p:nvSpPr>
        <p:spPr>
          <a:xfrm>
            <a:off x="7275240" y="417276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0" name="PlaceHolder 13"/>
          <p:cNvSpPr>
            <a:spLocks noGrp="1"/>
          </p:cNvSpPr>
          <p:nvPr>
            <p:ph type="body"/>
          </p:nvPr>
        </p:nvSpPr>
        <p:spPr>
          <a:xfrm>
            <a:off x="7275240" y="458820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1" name="PlaceHolder 14"/>
          <p:cNvSpPr>
            <a:spLocks noGrp="1"/>
          </p:cNvSpPr>
          <p:nvPr>
            <p:ph type="body"/>
          </p:nvPr>
        </p:nvSpPr>
        <p:spPr>
          <a:xfrm>
            <a:off x="9518040" y="417276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15"/>
          <p:cNvSpPr>
            <a:spLocks noGrp="1"/>
          </p:cNvSpPr>
          <p:nvPr>
            <p:ph type="body"/>
          </p:nvPr>
        </p:nvSpPr>
        <p:spPr>
          <a:xfrm>
            <a:off x="9518040" y="4588200"/>
            <a:ext cx="2139480" cy="34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3" name="PlaceHolder 16"/>
          <p:cNvSpPr>
            <a:spLocks noGrp="1"/>
          </p:cNvSpPr>
          <p:nvPr>
            <p:ph type="body"/>
          </p:nvPr>
        </p:nvSpPr>
        <p:spPr>
          <a:xfrm>
            <a:off x="878400" y="2555640"/>
            <a:ext cx="1484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ustom Layo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8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8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8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5" name="Date Placeholder 3" hidden="1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A6254A4C-7CB6-4E76-8A0E-DF4B130D3DD5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Footer Placeholder 4" hidden="1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lide Number Placeholder 5" hidden="1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490F5DF6-5763-4F30-A14E-D81E890E2E5D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99" name="Rectangle 1" descr="Tall office building looking up"/>
          <p:cNvSpPr/>
          <p:nvPr/>
        </p:nvSpPr>
        <p:spPr>
          <a:xfrm>
            <a:off x="3718440" y="1181160"/>
            <a:ext cx="4754520" cy="4495320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 cap="rnd"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4149000" y="4859640"/>
            <a:ext cx="3924720" cy="49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accent4"/>
                </a:solidFill>
                <a:effectLst/>
                <a:uFillTx/>
                <a:latin typeface="Calibri"/>
              </a:rPr>
              <a:t>Click to edit text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title"/>
          </p:nvPr>
        </p:nvSpPr>
        <p:spPr>
          <a:xfrm>
            <a:off x="4149000" y="1529640"/>
            <a:ext cx="3924720" cy="16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r>
              <a:rPr lang="en-US" sz="4800" b="1" u="none" strike="noStrike">
                <a:solidFill>
                  <a:schemeClr val="l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0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0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0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3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E3FD3998-BA76-469E-9427-D3BC1A137718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6D9709F7-F1CB-49F8-B2BB-FD90805F03C3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20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FC895E-32DF-4632-90CC-EA79067227E2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2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2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2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CA11D6A7-14E2-4ABF-A3F0-AF84802DEBB1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C06BFEE9-F260-4425-BE16-C20C7F724C95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338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0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A2B95D-76E5-4062-91CF-733B4FA2AD2E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4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4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4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1E713022-2AF8-4C75-B355-26D07B0E0B1F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BDAA4A14-AEE3-42D5-A7B7-401BC91871D7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357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358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359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360" name="PlaceHolder 6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PlaceHolder 7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62" name="PlaceHolder 8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0BDFB0-ACEB-4011-B349-EE9A7E17E91B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64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65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6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2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4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1CE620AD-8A88-48DB-95EF-3BC25F2B8633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9888990A-88E0-490D-AF15-82F45E18B27C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0" name="PlaceHolder 4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3132AD-BA13-4195-9E1F-4D9FE8B6A067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8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8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8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2CB3B0E4-110F-41E8-8663-D5CBC63D3881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FEAE083-CDE5-4B6E-BC8F-9AD16141AD1C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7" name="PlaceHolder 3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22BA47-1C2B-4B38-BDE3-ED0200DEEA01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</a:p>
        </p:txBody>
      </p:sp>
      <p:sp>
        <p:nvSpPr>
          <p:cNvPr id="39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0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0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8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CF417D1A-8C68-41EE-8E15-F69CF9BC32F4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E10E3C5E-B57A-4D72-889D-C0A24EB56653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5" name="PlaceHolder 3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7B4198-6601-47A5-BE49-A75F13A6043E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</a:p>
        </p:txBody>
      </p:sp>
      <p:sp>
        <p:nvSpPr>
          <p:cNvPr id="40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0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1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1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9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83742B6D-1E8D-4219-A065-A699274EFFB2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6F5E45C4-EAC0-4156-A01A-B1B4F743E301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424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425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27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91F02D-568F-43C7-872B-9C6AED1A0804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2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43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43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9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201CB61E-2369-4090-8B19-0487BAEF6EC6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BD048BBB-5B22-41B1-BE98-8FCDDBB16A0F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445" name="PlaceHolder 4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6" name="PlaceHolder 5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C0A401-F7C7-4060-AB3A-BA7EF25BFD0C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PlaceHolder 6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Date Placeholder 3" hidden="1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1289B322-5937-45C6-AC64-29AF4841618A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Footer Placeholder 4" hidden="1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lide Number Placeholder 5" hidden="1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8787F7D4-3260-4BE5-941C-1A40A93C7802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" name="Group 15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15" name="Freeform 14"/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6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7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8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2FB729-D30E-46D1-9A7A-108FF839FA00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7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7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7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2" name="Date Placeholder 3"/>
          <p:cNvSpPr/>
          <p:nvPr/>
        </p:nvSpPr>
        <p:spPr>
          <a:xfrm>
            <a:off x="660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fld id="{98146EBE-9240-4863-9FB9-4EE244F458C2}" type="datetime1">
              <a:rPr lang="en-US" sz="1100" b="0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9/10/2026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Footer Placeholder 4"/>
          <p:cNvSpPr/>
          <p:nvPr/>
        </p:nvSpPr>
        <p:spPr>
          <a:xfrm>
            <a:off x="1445400" y="6378840"/>
            <a:ext cx="41144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chemeClr val="accent2"/>
                </a:solidFill>
                <a:effectLst/>
                <a:uFillTx/>
                <a:latin typeface="Trebuchet MS"/>
              </a:rPr>
              <a:t>Annual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lide Number Placeholder 5"/>
          <p:cNvSpPr/>
          <p:nvPr/>
        </p:nvSpPr>
        <p:spPr>
          <a:xfrm>
            <a:off x="8805240" y="6378840"/>
            <a:ext cx="2742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96B1B06D-E518-4853-8833-D009F4C73986}" type="slidenum">
              <a:rPr lang="en-US" sz="1100" b="0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‹#›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body"/>
          </p:nvPr>
        </p:nvSpPr>
        <p:spPr>
          <a:xfrm>
            <a:off x="6312960" y="4142160"/>
            <a:ext cx="4220640" cy="86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accent4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indent="-28584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</p:txBody>
      </p:sp>
      <p:sp>
        <p:nvSpPr>
          <p:cNvPr id="186" name="Hexagon 14"/>
          <p:cNvSpPr/>
          <p:nvPr/>
        </p:nvSpPr>
        <p:spPr>
          <a:xfrm>
            <a:off x="740160" y="1382760"/>
            <a:ext cx="1229040" cy="105948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87" name="Hexagon 15"/>
          <p:cNvSpPr/>
          <p:nvPr/>
        </p:nvSpPr>
        <p:spPr>
          <a:xfrm>
            <a:off x="3755160" y="1194480"/>
            <a:ext cx="1665720" cy="14360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88" name="Hexagon 16"/>
          <p:cNvSpPr/>
          <p:nvPr/>
        </p:nvSpPr>
        <p:spPr>
          <a:xfrm>
            <a:off x="3804840" y="5233320"/>
            <a:ext cx="717840" cy="6188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89" name="Hexagon 17"/>
          <p:cNvSpPr/>
          <p:nvPr/>
        </p:nvSpPr>
        <p:spPr>
          <a:xfrm>
            <a:off x="1837800" y="1101240"/>
            <a:ext cx="651240" cy="56124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1571400" y="1914120"/>
            <a:ext cx="3993120" cy="361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title"/>
          </p:nvPr>
        </p:nvSpPr>
        <p:spPr>
          <a:xfrm>
            <a:off x="6312960" y="2050560"/>
            <a:ext cx="4998240" cy="174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Rectangle 37"/>
          <p:cNvSpPr/>
          <p:nvPr/>
        </p:nvSpPr>
        <p:spPr>
          <a:xfrm>
            <a:off x="0" y="0"/>
            <a:ext cx="228240" cy="685764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55" name="TextBox 38"/>
          <p:cNvSpPr/>
          <p:nvPr/>
        </p:nvSpPr>
        <p:spPr>
          <a:xfrm>
            <a:off x="731520" y="914400"/>
            <a:ext cx="1069812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SEASONAL AGRICULTURE</a:t>
            </a:r>
            <a:br>
              <a:rPr sz="3400"/>
            </a:br>
            <a:r>
              <a:rPr lang="en-US" sz="34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PERFORMANCE ANALYSIS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39"/>
          <p:cNvSpPr/>
          <p:nvPr/>
        </p:nvSpPr>
        <p:spPr>
          <a:xfrm>
            <a:off x="749880" y="2377440"/>
            <a:ext cx="10423800" cy="14143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Major Project – VOIS AICTE Batch 1 2026–2027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Student Name: Pratik Vijay Joshi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College: Progressive Education Society’s Modern College of Arts, Science and Commerce, </a:t>
            </a:r>
            <a:r>
              <a:rPr lang="en-US" sz="1600" b="0" u="none" strike="noStrike" dirty="0" err="1">
                <a:solidFill>
                  <a:srgbClr val="282D32"/>
                </a:solidFill>
                <a:effectLst/>
                <a:uFillTx/>
                <a:latin typeface="Trebuchet MS"/>
              </a:rPr>
              <a:t>Ganeshkhind</a:t>
            </a:r>
            <a:r>
              <a:rPr lang="en-US" sz="16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, Pune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6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AICTE STU ID: </a:t>
            </a:r>
            <a:r>
              <a:rPr lang="en-IN" dirty="0"/>
              <a:t>STU67e656b99b64b1743148729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Rectangle 40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58" name="TextBox 41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 dirty="0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694074-C804-CFEE-E22D-238F1ED9426A}"/>
              </a:ext>
            </a:extLst>
          </p:cNvPr>
          <p:cNvSpPr/>
          <p:nvPr/>
        </p:nvSpPr>
        <p:spPr>
          <a:xfrm>
            <a:off x="502920" y="6319777"/>
            <a:ext cx="2448624" cy="373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Box 16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Problem Statement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17"/>
          <p:cNvSpPr/>
          <p:nvPr/>
        </p:nvSpPr>
        <p:spPr>
          <a:xfrm>
            <a:off x="777240" y="1280160"/>
            <a:ext cx="1060668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Agricultural activities are influenced by seasonal variations in environmental conditions, farming practices, resource availability and market conditions.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Raw agricultural data does not clearly explain how agricultural performance changes across seasons.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This project analyzes the dataset to identify meaningful seasonal patterns, trends, relationships and variations in agricultural performance.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18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62" name="TextBox 19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EBACDD-0793-74CC-910C-B3C155FB40F0}"/>
              </a:ext>
            </a:extLst>
          </p:cNvPr>
          <p:cNvSpPr/>
          <p:nvPr/>
        </p:nvSpPr>
        <p:spPr>
          <a:xfrm>
            <a:off x="502920" y="6464880"/>
            <a:ext cx="2494923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Box 9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Project Description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10"/>
          <p:cNvSpPr/>
          <p:nvPr/>
        </p:nvSpPr>
        <p:spPr>
          <a:xfrm>
            <a:off x="731520" y="1188720"/>
            <a:ext cx="10698120" cy="46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This project performs a focused Data Analytics and Data Visualization study of agricultural activities across Kharif, Rabi and Zaid seasons.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The dataset includes crop, geographical, environmental, farming, resource and economic information. The analysis covers data cleaning, seasonal comparisons, crop performance, environmental conditions, water efficiency, economic performance, correlation and statistical testing.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The final analysis converts raw agricultural records into visual insights and data-driven recommendations for better seasonal agricultural planning.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Rectangle 11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66" name="TextBox 12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FB6E6E-154A-81BB-0DE9-69ECBE9A2201}"/>
              </a:ext>
            </a:extLst>
          </p:cNvPr>
          <p:cNvSpPr/>
          <p:nvPr/>
        </p:nvSpPr>
        <p:spPr>
          <a:xfrm>
            <a:off x="502920" y="6464880"/>
            <a:ext cx="2535248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extBox 16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Who Are the End Users?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17"/>
          <p:cNvSpPr/>
          <p:nvPr/>
        </p:nvSpPr>
        <p:spPr>
          <a:xfrm>
            <a:off x="868680" y="1371600"/>
            <a:ext cx="102409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Farmers – compare seasonal crop performance and resource requirements.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Agricultural departments – support evidence-based seasonal planning.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Agricultural consultants – understand crop, environmental and resource patterns.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Agribusinesses – evaluate production and economic performance.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Researchers and students – study agricultural trends using data analytics.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Rectangle 18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70" name="TextBox 19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FD0FDC-F960-ACF9-D042-9352EF7A5C7D}"/>
              </a:ext>
            </a:extLst>
          </p:cNvPr>
          <p:cNvSpPr/>
          <p:nvPr/>
        </p:nvSpPr>
        <p:spPr>
          <a:xfrm>
            <a:off x="580103" y="6464880"/>
            <a:ext cx="2526891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TextBox 16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Technology Used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17"/>
          <p:cNvSpPr/>
          <p:nvPr/>
        </p:nvSpPr>
        <p:spPr>
          <a:xfrm>
            <a:off x="914400" y="1188720"/>
            <a:ext cx="10058040" cy="47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Python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Pandas – data cleaning and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NumPy – numerical 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Matplotlib – visualization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Seaborn – statistical visualizations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SciPy – statistical testing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Development Environment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Google Colab / Jupyter Notebook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CSV Dataset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8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GitHub for project code and documentation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ectangle 18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74" name="TextBox 19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0B2132-4DBB-8D75-6B40-EC3913AF600C}"/>
              </a:ext>
            </a:extLst>
          </p:cNvPr>
          <p:cNvSpPr/>
          <p:nvPr/>
        </p:nvSpPr>
        <p:spPr>
          <a:xfrm>
            <a:off x="502920" y="6464880"/>
            <a:ext cx="2525415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Box 23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Seasonal Distribution &amp; Yield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6" name="Picture 24" descr="img 1.png"/>
          <p:cNvPicPr/>
          <p:nvPr/>
        </p:nvPicPr>
        <p:blipFill>
          <a:blip r:embed="rId2"/>
          <a:stretch/>
        </p:blipFill>
        <p:spPr>
          <a:xfrm>
            <a:off x="411480" y="1163160"/>
            <a:ext cx="5623200" cy="375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Picture 25" descr="img 2.png"/>
          <p:cNvPicPr/>
          <p:nvPr/>
        </p:nvPicPr>
        <p:blipFill>
          <a:blip r:embed="rId3"/>
          <a:stretch/>
        </p:blipFill>
        <p:spPr>
          <a:xfrm>
            <a:off x="6144840" y="1091160"/>
            <a:ext cx="5623200" cy="38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Rounded Rectangle 26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Kharif has the largest number of farm records and the highest average yield among the three seasons.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27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80" name="TextBox 28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CD96B2-80B8-F582-9188-212C0200171E}"/>
              </a:ext>
            </a:extLst>
          </p:cNvPr>
          <p:cNvSpPr/>
          <p:nvPr/>
        </p:nvSpPr>
        <p:spPr>
          <a:xfrm>
            <a:off x="502920" y="6390968"/>
            <a:ext cx="2564745" cy="3021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extBox 30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Production &amp; Rainfall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2" name="Picture 31" descr="img 3.png"/>
          <p:cNvPicPr/>
          <p:nvPr/>
        </p:nvPicPr>
        <p:blipFill>
          <a:blip r:embed="rId2"/>
          <a:stretch/>
        </p:blipFill>
        <p:spPr>
          <a:xfrm>
            <a:off x="411480" y="1113840"/>
            <a:ext cx="5623200" cy="38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3" name="Picture 32" descr="img 4.png"/>
          <p:cNvPicPr/>
          <p:nvPr/>
        </p:nvPicPr>
        <p:blipFill>
          <a:blip r:embed="rId3"/>
          <a:stretch/>
        </p:blipFill>
        <p:spPr>
          <a:xfrm>
            <a:off x="6144840" y="1163160"/>
            <a:ext cx="5623200" cy="375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Rounded Rectangle 33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Average production and rainfall are highest in Kharif, followed by Rabi and Zaid.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34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86" name="TextBox 35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F2BECD-5663-76A8-8A46-0CA8705596A8}"/>
              </a:ext>
            </a:extLst>
          </p:cNvPr>
          <p:cNvSpPr/>
          <p:nvPr/>
        </p:nvSpPr>
        <p:spPr>
          <a:xfrm>
            <a:off x="594360" y="6464880"/>
            <a:ext cx="2433975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TextBox 30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Temperature &amp; Soil Moisture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8" name="Picture 31" descr="img 5.png"/>
          <p:cNvPicPr/>
          <p:nvPr/>
        </p:nvPicPr>
        <p:blipFill>
          <a:blip r:embed="rId2"/>
          <a:stretch/>
        </p:blipFill>
        <p:spPr>
          <a:xfrm>
            <a:off x="411480" y="1113840"/>
            <a:ext cx="5623200" cy="385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9" name="Picture 32" descr="img 6.png"/>
          <p:cNvPicPr/>
          <p:nvPr/>
        </p:nvPicPr>
        <p:blipFill>
          <a:blip r:embed="rId3"/>
          <a:stretch/>
        </p:blipFill>
        <p:spPr>
          <a:xfrm>
            <a:off x="6144840" y="1113840"/>
            <a:ext cx="5623200" cy="385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Rounded Rectangle 33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The three seasons show clear differences in temperature and soil-moisture distributions.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34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92" name="TextBox 35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245E94-FB93-2CE5-728A-552BB5E4F25C}"/>
              </a:ext>
            </a:extLst>
          </p:cNvPr>
          <p:cNvSpPr/>
          <p:nvPr/>
        </p:nvSpPr>
        <p:spPr>
          <a:xfrm>
            <a:off x="594360" y="6464880"/>
            <a:ext cx="2414311" cy="164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Box 30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Crop Performance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4" name="Picture 31" descr="img 7.png"/>
          <p:cNvPicPr/>
          <p:nvPr/>
        </p:nvPicPr>
        <p:blipFill>
          <a:blip r:embed="rId2"/>
          <a:stretch/>
        </p:blipFill>
        <p:spPr>
          <a:xfrm>
            <a:off x="411480" y="1308600"/>
            <a:ext cx="5623200" cy="346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5" name="Picture 32" descr="img 8.png"/>
          <p:cNvPicPr/>
          <p:nvPr/>
        </p:nvPicPr>
        <p:blipFill>
          <a:blip r:embed="rId3"/>
          <a:stretch/>
        </p:blipFill>
        <p:spPr>
          <a:xfrm>
            <a:off x="6144840" y="1191600"/>
            <a:ext cx="5623200" cy="369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Rounded Rectangle 33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Sugarcane has the highest average yield, with its seasonal yield highest in Kharif.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Rectangle 34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498" name="TextBox 35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DA3099-3B71-DE92-886F-D0D18FE3A0E6}"/>
              </a:ext>
            </a:extLst>
          </p:cNvPr>
          <p:cNvSpPr/>
          <p:nvPr/>
        </p:nvSpPr>
        <p:spPr>
          <a:xfrm>
            <a:off x="594360" y="6464880"/>
            <a:ext cx="2483137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Box 30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Environmental Relationships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0" name="Picture 31" descr="img 9.png"/>
          <p:cNvPicPr/>
          <p:nvPr/>
        </p:nvPicPr>
        <p:blipFill>
          <a:blip r:embed="rId2"/>
          <a:stretch/>
        </p:blipFill>
        <p:spPr>
          <a:xfrm>
            <a:off x="411480" y="1139040"/>
            <a:ext cx="5623200" cy="380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1" name="Picture 32" descr="img 10.png"/>
          <p:cNvPicPr/>
          <p:nvPr/>
        </p:nvPicPr>
        <p:blipFill>
          <a:blip r:embed="rId3"/>
          <a:stretch/>
        </p:blipFill>
        <p:spPr>
          <a:xfrm>
            <a:off x="6144840" y="1139040"/>
            <a:ext cx="5623200" cy="38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Rounded Rectangle 33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Rainfall shows clear seasonal clustering, while fertilizer usage and yield have a dispersed relationship.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Rectangle 34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04" name="TextBox 35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5E501-6209-927B-7A84-8BBBFB705552}"/>
              </a:ext>
            </a:extLst>
          </p:cNvPr>
          <p:cNvSpPr/>
          <p:nvPr/>
        </p:nvSpPr>
        <p:spPr>
          <a:xfrm>
            <a:off x="594360" y="6464880"/>
            <a:ext cx="2532298" cy="164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Box 23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Water &amp; Economic Performance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6" name="Picture 24" descr="img 11.png"/>
          <p:cNvPicPr/>
          <p:nvPr/>
        </p:nvPicPr>
        <p:blipFill>
          <a:blip r:embed="rId2"/>
          <a:stretch/>
        </p:blipFill>
        <p:spPr>
          <a:xfrm>
            <a:off x="411480" y="1091160"/>
            <a:ext cx="5623200" cy="389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7" name="Picture 25" descr="img 12.png"/>
          <p:cNvPicPr/>
          <p:nvPr/>
        </p:nvPicPr>
        <p:blipFill>
          <a:blip r:embed="rId3"/>
          <a:stretch/>
        </p:blipFill>
        <p:spPr>
          <a:xfrm>
            <a:off x="6144840" y="1284480"/>
            <a:ext cx="5623200" cy="351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Rounded Rectangle 26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Kharif has the highest water efficiency and strongest economic result; Zaid shows the lowest water efficiency and negative average profit.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Rectangle 27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10" name="TextBox 28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B75051-680B-B30C-78EE-8C2F4A5CE4D8}"/>
              </a:ext>
            </a:extLst>
          </p:cNvPr>
          <p:cNvSpPr/>
          <p:nvPr/>
        </p:nvSpPr>
        <p:spPr>
          <a:xfrm>
            <a:off x="594360" y="6464880"/>
            <a:ext cx="2453640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Box 23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Results – Correlation Analysis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2" name="Picture 24" descr="img 13.png"/>
          <p:cNvPicPr/>
          <p:nvPr/>
        </p:nvPicPr>
        <p:blipFill>
          <a:blip r:embed="rId2"/>
          <a:stretch/>
        </p:blipFill>
        <p:spPr>
          <a:xfrm>
            <a:off x="3468240" y="960120"/>
            <a:ext cx="5225040" cy="43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Rounded Rectangle 25"/>
          <p:cNvSpPr/>
          <p:nvPr/>
        </p:nvSpPr>
        <p:spPr>
          <a:xfrm>
            <a:off x="594360" y="516636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F1F6FA"/>
          </a:solidFill>
          <a:ln cap="rnd">
            <a:solidFill>
              <a:srgbClr val="D2DCE6"/>
            </a:solidFill>
            <a:round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Key observation: Yield shows strong relationships with production and water efficiency, while several economic variables are also related to agricultural performance.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Rectangle 26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15" name="TextBox 27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TextBox 23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Future Scope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24"/>
          <p:cNvSpPr/>
          <p:nvPr/>
        </p:nvSpPr>
        <p:spPr>
          <a:xfrm>
            <a:off x="868680" y="1280160"/>
            <a:ext cx="1033236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Machine learning models for crop-yield prediction.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Crop recommendation based on season, soil and environmental conditions.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Smart irrigation recommendations using water-efficiency analysis.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Disease and pest risk prediction using historical and real-time data.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Integration of live weather and market-price data.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>
                <a:solidFill>
                  <a:srgbClr val="282D32"/>
                </a:solidFill>
                <a:effectLst/>
                <a:uFillTx/>
                <a:latin typeface="Trebuchet MS"/>
              </a:rPr>
              <a:t>• Farmer-friendly mobile or web dashboard.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ectangle 25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19" name="TextBox 26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Box 45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GitHub Link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46"/>
          <p:cNvSpPr/>
          <p:nvPr/>
        </p:nvSpPr>
        <p:spPr>
          <a:xfrm>
            <a:off x="914400" y="1325880"/>
            <a:ext cx="10240920" cy="6756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9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GitHub URL:</a:t>
            </a:r>
            <a:r>
              <a:rPr lang="en-US" sz="1900" dirty="0">
                <a:solidFill>
                  <a:srgbClr val="282D32"/>
                </a:solidFill>
              </a:rPr>
              <a:t>https://github.com/pj114667-lab/Seasonal-Agriculture-Performance-Analysis.git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47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23" name="TextBox 48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7FAE05-FE35-CE73-B69B-0E62B25E38E6}"/>
              </a:ext>
            </a:extLst>
          </p:cNvPr>
          <p:cNvSpPr/>
          <p:nvPr/>
        </p:nvSpPr>
        <p:spPr>
          <a:xfrm>
            <a:off x="502920" y="6464880"/>
            <a:ext cx="2554912" cy="247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TextBox 1"/>
          <p:cNvSpPr/>
          <p:nvPr/>
        </p:nvSpPr>
        <p:spPr>
          <a:xfrm>
            <a:off x="502920" y="22860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VOIS Course Completion Certificate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2"/>
          <p:cNvSpPr/>
          <p:nvPr/>
        </p:nvSpPr>
        <p:spPr>
          <a:xfrm>
            <a:off x="533760" y="653580"/>
            <a:ext cx="7794163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2000" b="0" u="none" strike="noStrike" dirty="0">
                <a:solidFill>
                  <a:srgbClr val="282D32"/>
                </a:solidFill>
                <a:effectLst/>
                <a:uFillTx/>
                <a:latin typeface="Trebuchet MS"/>
              </a:rPr>
              <a:t>Course Name: Data Visualization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4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9A988-1FA2-CDD3-B8B1-A467D745EA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271" y="1302848"/>
            <a:ext cx="6939997" cy="49102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EA4F30-D46C-254E-4140-1BEAFD788BD9}"/>
              </a:ext>
            </a:extLst>
          </p:cNvPr>
          <p:cNvSpPr/>
          <p:nvPr/>
        </p:nvSpPr>
        <p:spPr>
          <a:xfrm>
            <a:off x="689610" y="6442710"/>
            <a:ext cx="1824990" cy="243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TextBox 1"/>
          <p:cNvSpPr/>
          <p:nvPr/>
        </p:nvSpPr>
        <p:spPr>
          <a:xfrm>
            <a:off x="914400" y="196596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19375F"/>
                </a:solidFill>
                <a:effectLst/>
                <a:uFillTx/>
                <a:latin typeface="Trebuchet MS"/>
              </a:rPr>
              <a:t>THANK YOU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3"/>
          <p:cNvSpPr/>
          <p:nvPr/>
        </p:nvSpPr>
        <p:spPr>
          <a:xfrm>
            <a:off x="0" y="6784920"/>
            <a:ext cx="12191760" cy="72720"/>
          </a:xfrm>
          <a:prstGeom prst="rect">
            <a:avLst/>
          </a:prstGeom>
          <a:solidFill>
            <a:srgbClr val="2A69A0"/>
          </a:solidFill>
          <a:ln>
            <a:noFill/>
          </a:ln>
          <a:effectLst>
            <a:outerShdw blurRad="38160" dist="2556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rebuchet MS"/>
            </a:endParaRPr>
          </a:p>
        </p:txBody>
      </p:sp>
      <p:sp>
        <p:nvSpPr>
          <p:cNvPr id="532" name="TextBox 4"/>
          <p:cNvSpPr/>
          <p:nvPr/>
        </p:nvSpPr>
        <p:spPr>
          <a:xfrm>
            <a:off x="502920" y="646488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696E73"/>
                </a:solidFill>
                <a:effectLst/>
                <a:uFillTx/>
                <a:latin typeface="Trebuchet MS"/>
              </a:rPr>
              <a:t>VOIS AICTE Batch 1 2026–2027 | Major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A1E986-7781-BB45-6694-F13B06989660}"/>
              </a:ext>
            </a:extLst>
          </p:cNvPr>
          <p:cNvSpPr/>
          <p:nvPr/>
        </p:nvSpPr>
        <p:spPr>
          <a:xfrm>
            <a:off x="502920" y="6464880"/>
            <a:ext cx="2525415" cy="228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1391</TotalTime>
  <Words>669</Words>
  <Application>Microsoft Office PowerPoint</Application>
  <PresentationFormat>Widescreen</PresentationFormat>
  <Paragraphs>77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Symbol</vt:lpstr>
      <vt:lpstr>Times New Roman</vt:lpstr>
      <vt:lpstr>Trebuchet MS</vt:lpstr>
      <vt:lpstr>Wingdings</vt:lpstr>
      <vt:lpstr>Wingdings 3</vt:lpstr>
      <vt:lpstr>Facet</vt:lpstr>
      <vt:lpstr>Facet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PRATIK</dc:creator>
  <cp:lastModifiedBy>PRATIK JOSHI</cp:lastModifiedBy>
  <cp:revision>6</cp:revision>
  <dcterms:modified xsi:type="dcterms:W3CDTF">2026-09-10T11:08:43Z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2021-07-11T13:13:15Z</dcterms:created>
  <dc:creator>Venkataswamy</dc:creator>
  <dc:description/>
  <dc:language>en-US</dc:language>
  <cp:lastModifiedBy>Aswini Kumar Motapothula</cp:lastModifiedBy>
  <dcterms:modified xsi:type="dcterms:W3CDTF">2026-09-04T02:42:44Z</dcterms:modified>
  <cp:revision>98</cp:revision>
  <dc:subject/>
  <dc:title>MASKED HUNTERS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r8>1</vt:r8>
  </property>
  <property fmtid="{D5CDD505-2E9C-101B-9397-08002B2CF9AE}" pid="4" name="PresentationFormat">
    <vt:lpwstr>Widescreen</vt:lpwstr>
  </property>
  <property fmtid="{D5CDD505-2E9C-101B-9397-08002B2CF9AE}" pid="5" name="Slides">
    <vt:r8>14</vt:r8>
  </property>
</Properties>
</file>